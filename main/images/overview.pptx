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2"/>
  </p:notesMasterIdLst>
  <p:handoutMasterIdLst>
    <p:handoutMasterId r:id="rId23"/>
  </p:handoutMasterIdLst>
  <p:sldIdLst>
    <p:sldId id="2147476961" r:id="rId2"/>
    <p:sldId id="2147476962" r:id="rId3"/>
    <p:sldId id="14952" r:id="rId4"/>
    <p:sldId id="2147476965" r:id="rId5"/>
    <p:sldId id="2147479520" r:id="rId6"/>
    <p:sldId id="2147479526" r:id="rId7"/>
    <p:sldId id="2147479584" r:id="rId8"/>
    <p:sldId id="2147479585" r:id="rId9"/>
    <p:sldId id="2145705724" r:id="rId10"/>
    <p:sldId id="2147479586" r:id="rId11"/>
    <p:sldId id="2147476964" r:id="rId12"/>
    <p:sldId id="2147479521" r:id="rId13"/>
    <p:sldId id="2145705746" r:id="rId14"/>
    <p:sldId id="2145705721" r:id="rId15"/>
    <p:sldId id="2145705723" r:id="rId16"/>
    <p:sldId id="2123260229" r:id="rId17"/>
    <p:sldId id="2147476967" r:id="rId18"/>
    <p:sldId id="2147479523" r:id="rId19"/>
    <p:sldId id="2147479524" r:id="rId20"/>
    <p:sldId id="214747952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A6A6"/>
    <a:srgbClr val="7F7F7F"/>
    <a:srgbClr val="0091BD"/>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varScale="1">
        <p:scale>
          <a:sx n="131" d="100"/>
          <a:sy n="131" d="100"/>
        </p:scale>
        <p:origin x="150" y="168"/>
      </p:cViewPr>
      <p:guideLst>
        <p:guide orient="horz" pos="2160"/>
        <p:guide pos="3840"/>
      </p:guideLst>
    </p:cSldViewPr>
  </p:slideViewPr>
  <p:notesTextViewPr>
    <p:cViewPr>
      <p:scale>
        <a:sx n="3" d="2"/>
        <a:sy n="3" d="2"/>
      </p:scale>
      <p:origin x="0" y="0"/>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26/05/2026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26/05/2026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4" Type="http://schemas.openxmlformats.org/officeDocument/2006/relationships/image" Target="../media/image3.svg"/><Relationship Id="rId9" Type="http://schemas.openxmlformats.org/officeDocument/2006/relationships/hyperlink" Target="https://arm-software.github.io/SDS-Framework/main/theory.html#yaml-metadata-forma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228599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5" name="TextBox 4">
            <a:extLst>
              <a:ext uri="{FF2B5EF4-FFF2-40B4-BE49-F238E27FC236}">
                <a16:creationId xmlns:a16="http://schemas.microsoft.com/office/drawing/2014/main" id="{2ADD8D60-013B-51D8-B2B2-461F41C4FBE0}"/>
              </a:ext>
            </a:extLst>
          </p:cNvPr>
          <p:cNvSpPr txBox="1"/>
          <p:nvPr/>
        </p:nvSpPr>
        <p:spPr>
          <a:xfrm>
            <a:off x="6688998" y="1192552"/>
            <a:ext cx="5170142" cy="4969053"/>
          </a:xfrm>
          <a:prstGeom prst="rect">
            <a:avLst/>
          </a:prstGeom>
          <a:noFill/>
        </p:spPr>
        <p:txBody>
          <a:bodyPr wrap="square" lIns="0" tIns="0" rIns="0" bIns="0" rtlCol="0">
            <a:spAutoFit/>
          </a:bodyPr>
          <a:lstStyle/>
          <a:p>
            <a:r>
              <a:rPr lang="en-US" sz="1600" dirty="0"/>
              <a:t>DSP / ML algorithms operate on time-based data streams (fixed or variable size blocks) that represent sensor data, audio samples, or video frames.</a:t>
            </a:r>
          </a:p>
          <a:p>
            <a:endParaRPr lang="en-US" sz="1600" dirty="0"/>
          </a:p>
          <a:p>
            <a:r>
              <a:rPr lang="en-US" sz="1600" dirty="0"/>
              <a:t>SDS is a software developer framework for DSP / ML:</a:t>
            </a:r>
          </a:p>
          <a:p>
            <a:pPr marL="227013" indent="-227013">
              <a:buFont typeface="Arial" panose="020B0604020202020204" pitchFamily="34" charset="0"/>
              <a:buChar char="•"/>
            </a:pPr>
            <a:r>
              <a:rPr lang="en-US" sz="1600" dirty="0"/>
              <a:t>Flexible stream handling for sensor, audio, and video data.</a:t>
            </a:r>
          </a:p>
          <a:p>
            <a:pPr marL="227013" indent="-227013">
              <a:buFont typeface="Arial" panose="020B0604020202020204" pitchFamily="34" charset="0"/>
              <a:buChar char="•"/>
            </a:pPr>
            <a:r>
              <a:rPr lang="en-US" sz="1600" dirty="0"/>
              <a:t>Supports multiple streams with time drift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Playback streams on hardware or </a:t>
            </a:r>
            <a:r>
              <a:rPr lang="en-US" sz="1600" u="sng" dirty="0">
                <a:hlinkClick r:id="rId8"/>
              </a:rPr>
              <a:t>simulation</a:t>
            </a:r>
            <a:r>
              <a:rPr lang="en-US" sz="1600" dirty="0"/>
              <a:t> for validation.</a:t>
            </a:r>
          </a:p>
          <a:p>
            <a:endParaRPr lang="en-US" sz="1600" dirty="0"/>
          </a:p>
          <a:p>
            <a:r>
              <a:rPr lang="en-US" sz="1600" dirty="0"/>
              <a:t>Captured data streams simplify many stages of development:</a:t>
            </a:r>
          </a:p>
          <a:p>
            <a:pPr marL="227013" indent="-227013">
              <a:buFont typeface="Arial" panose="020B0604020202020204" pitchFamily="34" charset="0"/>
              <a:buChar char="•"/>
            </a:pPr>
            <a:r>
              <a:rPr lang="en-US" sz="1600" dirty="0"/>
              <a:t>Validate input streams or algorithm output data.</a:t>
            </a:r>
          </a:p>
          <a:p>
            <a:pPr marL="227013" indent="-227013">
              <a:buFont typeface="Arial" panose="020B0604020202020204" pitchFamily="34" charset="0"/>
              <a:buChar char="•"/>
            </a:pPr>
            <a:r>
              <a:rPr lang="en-US" sz="1600" dirty="0"/>
              <a:t>Input for DSP filter design tools or ML model training.</a:t>
            </a:r>
          </a:p>
          <a:p>
            <a:pPr marL="227013" indent="-227013">
              <a:buFont typeface="Arial" panose="020B0604020202020204" pitchFamily="34" charset="0"/>
              <a:buChar char="•"/>
            </a:pPr>
            <a:r>
              <a:rPr lang="en-US" sz="1600" dirty="0"/>
              <a:t>Provide data for reproducible regression tests.</a:t>
            </a:r>
          </a:p>
          <a:p>
            <a:pPr marL="227013" indent="-227013">
              <a:buFont typeface="Arial" panose="020B0604020202020204" pitchFamily="34" charset="0"/>
              <a:buChar char="•"/>
            </a:pPr>
            <a:endParaRPr lang="en-US" sz="1600" dirty="0"/>
          </a:p>
          <a:p>
            <a:r>
              <a:rPr lang="en-US" sz="1600" dirty="0"/>
              <a:t>SDS v3 adds a control interface in the SDSIO-Server with:</a:t>
            </a:r>
          </a:p>
          <a:p>
            <a:pPr marL="227013" indent="-227013">
              <a:buFont typeface="Arial" panose="020B0604020202020204" pitchFamily="34" charset="0"/>
              <a:buChar char="•"/>
            </a:pPr>
            <a:r>
              <a:rPr lang="en-US" sz="1600" dirty="0"/>
              <a:t>Record or playback switch using the same firmware image.</a:t>
            </a:r>
          </a:p>
          <a:p>
            <a:pPr marL="227013" indent="-227013">
              <a:buFont typeface="Arial" panose="020B0604020202020204" pitchFamily="34" charset="0"/>
              <a:buChar char="•"/>
            </a:pPr>
            <a:r>
              <a:rPr lang="en-US" sz="1600" dirty="0"/>
              <a:t>User flags to configure algorithms or for A/B tests.</a:t>
            </a:r>
          </a:p>
          <a:p>
            <a:pPr marL="227013" indent="-227013">
              <a:buFont typeface="Arial" panose="020B0604020202020204" pitchFamily="34" charset="0"/>
              <a:buChar char="•"/>
            </a:pPr>
            <a:r>
              <a:rPr lang="en-US" sz="1600" dirty="0"/>
              <a:t>Managed playback data streams for regression tests.</a:t>
            </a:r>
          </a:p>
          <a:p>
            <a:pPr algn="l" defTabSz="914400" rtl="0" eaLnBrk="1" latinLnBrk="0" hangingPunct="1">
              <a:lnSpc>
                <a:spcPct val="90000"/>
              </a:lnSpc>
              <a:spcBef>
                <a:spcPts val="0"/>
              </a:spcBef>
              <a:spcAft>
                <a:spcPts val="600"/>
              </a:spcAft>
            </a:pPr>
            <a:endParaRPr lang="en-US" sz="2100" kern="1200" dirty="0" err="1">
              <a:solidFill>
                <a:schemeClr val="tx2"/>
              </a:solidFill>
              <a:latin typeface="+mn-lt"/>
              <a:ea typeface="+mn-ea"/>
              <a:cs typeface="+mn-cs"/>
            </a:endParaRP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9"/>
              </a:rPr>
              <a:t>Metadata files</a:t>
            </a:r>
            <a:r>
              <a:rPr lang="en-US" sz="1200" kern="1200" dirty="0">
                <a:solidFill>
                  <a:schemeClr val="tx2"/>
                </a:solidFill>
                <a:latin typeface="+mn-lt"/>
                <a:ea typeface="+mn-ea"/>
                <a:cs typeface="+mn-cs"/>
              </a:rPr>
              <a:t> describe data stream content</a:t>
            </a:r>
          </a:p>
        </p:txBody>
      </p:sp>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Tree>
    <p:extLst>
      <p:ext uri="{BB962C8B-B14F-4D97-AF65-F5344CB8AC3E}">
        <p14:creationId xmlns:p14="http://schemas.microsoft.com/office/powerpoint/2010/main" val="279803533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Tree>
    <p:extLst>
      <p:ext uri="{BB962C8B-B14F-4D97-AF65-F5344CB8AC3E}">
        <p14:creationId xmlns:p14="http://schemas.microsoft.com/office/powerpoint/2010/main" val="2939516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02EBEA1-7041-D39E-E8B2-FAD0CF474387}"/>
              </a:ext>
            </a:extLst>
          </p:cNvPr>
          <p:cNvSpPr/>
          <p:nvPr/>
        </p:nvSpPr>
        <p:spPr>
          <a:xfrm>
            <a:off x="1423700" y="289362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4E4A9F10-1A20-75D7-567A-32554F95CCD4}"/>
              </a:ext>
            </a:extLst>
          </p:cNvPr>
          <p:cNvSpPr/>
          <p:nvPr/>
        </p:nvSpPr>
        <p:spPr>
          <a:xfrm>
            <a:off x="1533527" y="299587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FFFFF"/>
                </a:solidFill>
                <a:effectLst/>
                <a:uLnTx/>
                <a:uFillTx/>
                <a:latin typeface="Courier New" panose="02070309020205020404" pitchFamily="49" charset="0"/>
                <a:ea typeface="+mn-ea"/>
                <a:cs typeface="Courier New" panose="02070309020205020404" pitchFamily="49" charset="0"/>
              </a:rPr>
              <a:t>sds_buffer.</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32795" y="3012817"/>
            <a:ext cx="3507170" cy="741742"/>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A circular buffer management for each data stream</a:t>
            </a:r>
            <a:br>
              <a:rPr kumimoji="0" lang="en-US" sz="1200" b="0" i="0" u="none" strike="noStrike" kern="1200" cap="none" spc="0" normalizeH="0" baseline="0" noProof="0" dirty="0">
                <a:ln>
                  <a:noFill/>
                </a:ln>
                <a:solidFill>
                  <a:srgbClr val="333E48"/>
                </a:solidFill>
                <a:effectLst/>
                <a:uLnTx/>
                <a:uFillTx/>
                <a:latin typeface="Calibri"/>
                <a:ea typeface="+mn-ea"/>
                <a:cs typeface="+mn-cs"/>
              </a:rPr>
            </a:br>
            <a:r>
              <a:rPr kumimoji="0" lang="en-US" sz="1200" b="0" i="0" u="none" strike="noStrike" kern="1200" cap="none" spc="0" normalizeH="0" baseline="0" noProof="0" dirty="0">
                <a:ln>
                  <a:noFill/>
                </a:ln>
                <a:solidFill>
                  <a:srgbClr val="333E48"/>
                </a:solidFill>
                <a:effectLst/>
                <a:uLnTx/>
                <a:uFillTx/>
                <a:latin typeface="Calibri"/>
                <a:ea typeface="+mn-ea"/>
                <a:cs typeface="+mn-cs"/>
              </a:rPr>
              <a:t>triggers events back to the SDS Stream Interface when a buffer threshold is reached.</a:t>
            </a:r>
          </a:p>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endParaRPr kumimoji="0" lang="en-US" sz="1200" b="0" i="0" u="none" strike="noStrike" kern="1200" cap="none" spc="0" normalizeH="0" baseline="0" noProof="0" dirty="0">
              <a:ln>
                <a:noFill/>
              </a:ln>
              <a:solidFill>
                <a:srgbClr val="333E48"/>
              </a:solidFill>
              <a:effectLst/>
              <a:uLnTx/>
              <a:uFillTx/>
              <a:latin typeface="Calibri"/>
              <a:ea typeface="+mn-ea"/>
              <a:cs typeface="+mn-cs"/>
            </a:endParaRPr>
          </a:p>
        </p:txBody>
      </p:sp>
      <p:sp>
        <p:nvSpPr>
          <p:cNvPr id="35" name="Rectangle 34">
            <a:extLst>
              <a:ext uri="{FF2B5EF4-FFF2-40B4-BE49-F238E27FC236}">
                <a16:creationId xmlns:a16="http://schemas.microsoft.com/office/drawing/2014/main" id="{1F469086-77BB-6A4A-C688-3433A7B19C4F}"/>
              </a:ext>
            </a:extLst>
          </p:cNvPr>
          <p:cNvSpPr/>
          <p:nvPr/>
        </p:nvSpPr>
        <p:spPr>
          <a:xfrm>
            <a:off x="1423700" y="1924963"/>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DB1782E4-6E1F-404F-E4B8-421C17ED015B}"/>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F4DC3713-8258-EBBC-3621-1B9F1C00FFFB}"/>
              </a:ext>
            </a:extLst>
          </p:cNvPr>
          <p:cNvSpPr>
            <a:spLocks noGrp="1"/>
          </p:cNvSpPr>
          <p:nvPr>
            <p:ph type="body" sz="quarter" idx="13"/>
          </p:nvPr>
        </p:nvSpPr>
        <p:spPr/>
        <p:txBody>
          <a:bodyPr/>
          <a:lstStyle/>
          <a:p>
            <a:endParaRPr lang="en-US"/>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sdsio_</a:t>
            </a:r>
            <a:r>
              <a:rPr kumimoji="0" lang="en-US" sz="1100" b="0" i="1"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x</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SDSIO Client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912565"/>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sds</a:t>
            </a: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data f</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iles</a:t>
            </a:r>
            <a:endPar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This SDSIO Client Interface implements the access to  </a:t>
            </a:r>
            <a:r>
              <a:rPr kumimoji="0" lang="en-US" sz="1100" b="1" i="0" u="none" strike="noStrike" kern="1200" cap="none" spc="0" normalizeH="0" baseline="0" noProof="0" dirty="0">
                <a:ln>
                  <a:noFill/>
                </a:ln>
                <a:solidFill>
                  <a:srgbClr val="333E48"/>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333E48"/>
                </a:solidFill>
                <a:effectLst/>
                <a:uLnTx/>
                <a:uFillTx/>
                <a:latin typeface="Courier New" panose="02070309020205020404" pitchFamily="49" charset="0"/>
                <a:ea typeface="+mn-ea"/>
                <a:cs typeface="Courier New" panose="02070309020205020404" pitchFamily="49" charset="0"/>
              </a:rPr>
              <a:t>sds</a:t>
            </a:r>
            <a:r>
              <a:rPr kumimoji="0" lang="en-US" sz="1200" b="0" i="0" u="none" strike="noStrike" kern="1200" cap="none" spc="0" normalizeH="0" baseline="0" noProof="0" dirty="0">
                <a:ln>
                  <a:noFill/>
                </a:ln>
                <a:solidFill>
                  <a:srgbClr val="333E48"/>
                </a:solidFill>
                <a:effectLst/>
                <a:uLnTx/>
                <a:uFillTx/>
                <a:latin typeface="Calibri"/>
                <a:ea typeface="+mn-ea"/>
                <a:cs typeface="+mn-cs"/>
              </a:rPr>
              <a:t> data files. Multiple SDSIO Client implementations are available that interface to file system, network, UART, USB, or RTT.</a:t>
            </a: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6" name="TextBox 35">
            <a:extLst>
              <a:ext uri="{FF2B5EF4-FFF2-40B4-BE49-F238E27FC236}">
                <a16:creationId xmlns:a16="http://schemas.microsoft.com/office/drawing/2014/main" id="{D798D057-DD8F-93AE-76B6-7649C571E2E2}"/>
              </a:ext>
            </a:extLst>
          </p:cNvPr>
          <p:cNvSpPr txBox="1"/>
          <p:nvPr/>
        </p:nvSpPr>
        <p:spPr>
          <a:xfrm>
            <a:off x="4024022" y="2080387"/>
            <a:ext cx="3507170" cy="3323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The SDS Stream Interface implements non-blocking, thread-safe functions to </a:t>
            </a:r>
            <a:r>
              <a:rPr kumimoji="0" lang="en-US" sz="1200" b="0" i="0" u="none" strike="noStrike" kern="1200" cap="none" spc="0" normalizeH="0" baseline="0" noProof="0">
                <a:ln>
                  <a:noFill/>
                </a:ln>
                <a:solidFill>
                  <a:srgbClr val="333E48"/>
                </a:solidFill>
                <a:effectLst/>
                <a:uLnTx/>
                <a:uFillTx/>
                <a:latin typeface="Calibri"/>
                <a:ea typeface="+mn-ea"/>
                <a:cs typeface="+mn-cs"/>
              </a:rPr>
              <a:t>read or write data </a:t>
            </a:r>
            <a:r>
              <a:rPr kumimoji="0" lang="en-US" sz="1200" b="0" i="0" u="none" strike="noStrike" kern="1200" cap="none" spc="0" normalizeH="0" baseline="0" noProof="0" dirty="0">
                <a:ln>
                  <a:noFill/>
                </a:ln>
                <a:solidFill>
                  <a:srgbClr val="333E48"/>
                </a:solidFill>
                <a:effectLst/>
                <a:uLnTx/>
                <a:uFillTx/>
                <a:latin typeface="Calibri"/>
                <a:ea typeface="+mn-ea"/>
                <a:cs typeface="+mn-cs"/>
              </a:rPr>
              <a:t>streams.</a:t>
            </a: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50458"/>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8026F6F4-8A79-5BB6-6762-88E8976A06E3}"/>
              </a:ext>
            </a:extLst>
          </p:cNvPr>
          <p:cNvSpPr/>
          <p:nvPr/>
        </p:nvSpPr>
        <p:spPr>
          <a:xfrm>
            <a:off x="1533527" y="2024645"/>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 Stream Interface</a:t>
            </a:r>
          </a:p>
        </p:txBody>
      </p:sp>
    </p:spTree>
    <p:extLst>
      <p:ext uri="{BB962C8B-B14F-4D97-AF65-F5344CB8AC3E}">
        <p14:creationId xmlns:p14="http://schemas.microsoft.com/office/powerpoint/2010/main" val="2235802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spTree>
    <p:extLst>
      <p:ext uri="{BB962C8B-B14F-4D97-AF65-F5344CB8AC3E}">
        <p14:creationId xmlns:p14="http://schemas.microsoft.com/office/powerpoint/2010/main" val="361615194"/>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7698</TotalTime>
  <Words>3880</Words>
  <Application>Microsoft Office PowerPoint</Application>
  <PresentationFormat>Widescreen</PresentationFormat>
  <Paragraphs>582</Paragraphs>
  <Slides>20</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Data Labelling and Regression Test Configuration </vt:lpstr>
      <vt:lpstr>SDS: flexible stream management for sensor and audio data</vt:lpstr>
      <vt:lpstr>SDS Data Buffer and Record / Playback Interface</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Milorad Cvjetkovic</cp:lastModifiedBy>
  <cp:revision>129</cp:revision>
  <dcterms:created xsi:type="dcterms:W3CDTF">2021-11-12T09:09:53Z</dcterms:created>
  <dcterms:modified xsi:type="dcterms:W3CDTF">2026-05-26T08:18:08Z</dcterms:modified>
</cp:coreProperties>
</file>